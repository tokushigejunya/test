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" cy="64922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2743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430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公開財務情報をOpenSearchで全文検索する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E5FF"/>
                </a:solidFill>
                <a:latin typeface="Meiryo"/>
              </a:rPr>
              <a:t>EDINET  ×  Python  ×  Amazon OpenSearch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Meiryo"/>
              </a:rPr>
              <a:t>社内勉強会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今日やること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3"/>
                </a:solidFill>
                <a:latin typeface="Meiryo"/>
              </a:rPr>
              <a:t>作ったもの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1453896"/>
            <a:ext cx="11018520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3D73"/>
                </a:solidFill>
                <a:latin typeface="Consolas"/>
              </a:rPr>
              <a:t>5社・1年分の有価証券報告書（136件）を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Amazon OpenSearch Service に投入して日本語全文検索できるようにする</a:t>
            </a:r>
          </a:p>
          <a:p>
            <a:endParaRPr sz="1400">
              <a:solidFill>
                <a:srgbClr val="003D73"/>
              </a:solidFill>
              <a:latin typeface="Consolas"/>
            </a:endParaRP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対象企業: トヨタ・ソニー・三菱UFJ・任天堂・キーエンス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3"/>
                </a:solidFill>
                <a:latin typeface="Meiryo"/>
              </a:rPr>
              <a:t>今日話すこと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74552" cy="201168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3236976"/>
            <a:ext cx="11018520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3D73"/>
                </a:solidFill>
                <a:latin typeface="Consolas"/>
              </a:rPr>
              <a:t>① AWS OpenSearch Service のドメイン構築（ハンズオン）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② バッチ処理の実装（EDINET API → PDF → テキスト抽出 → インデックス投入）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③ デモ（Discover / kuromoji可視化 / 全文検索 / 企業横断集計）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④ 全文検索の仕組み（転置インデックス・BM25）― 圧縮版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EDINETとは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3"/>
                </a:solidFill>
                <a:latin typeface="Meiryo"/>
              </a:rPr>
              <a:t>EDINET（Electronic Disclosure for Investors' NETwork）= 金融庁が運営する電子開示システム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iryo"/>
              </a:rPr>
              <a:t>・上場企業の法定開示書類がすべて無料で取得できる
・APIキーを登録すれば誰でも使える
・1日に数百〜1000件近くの書類が提出される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8229600" cy="18288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596896"/>
            <a:ext cx="7973568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003D73"/>
                </a:solidFill>
                <a:latin typeface="Consolas"/>
              </a:rPr>
              <a:t>コード    書類名              提出頻度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─────────────────────────────────────────────────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030000    有価証券報告書       年1回（決算後3ヶ月以内）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042000    四半期報告書         年3回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020000    半期報告書           年1回（Q2相当）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Meiryo"/>
              </a:rPr>
              <a:t>APIは1日単位でしか書類一覧を取得できない設計 → バッチ処理の実装に影響する（後述）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アーキテクチャ全体像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6400800" cy="512064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042416"/>
            <a:ext cx="6144768" cy="4864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3D73"/>
                </a:solidFill>
                <a:latin typeface="Consolas"/>
              </a:rPr>
              <a:t>EDINET API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    ↓  Python batch（ローカルで実行）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       日付ループ → PDF取得 → テキスト抽出</a:t>
            </a:r>
          </a:p>
          <a:p>
            <a:endParaRPr sz="1400">
              <a:solidFill>
                <a:srgbClr val="003D73"/>
              </a:solidFill>
              <a:latin typeface="Consolas"/>
            </a:endParaRP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    ↓</a:t>
            </a:r>
          </a:p>
          <a:p>
            <a:endParaRPr sz="1400">
              <a:solidFill>
                <a:srgbClr val="003D73"/>
              </a:solidFill>
              <a:latin typeface="Consolas"/>
            </a:endParaRP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Amazon OpenSearch Service（kuromoji）</a:t>
            </a:r>
          </a:p>
          <a:p>
            <a:endParaRPr sz="1400">
              <a:solidFill>
                <a:srgbClr val="003D73"/>
              </a:solidFill>
              <a:latin typeface="Consolas"/>
            </a:endParaRP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    ↓</a:t>
            </a:r>
          </a:p>
          <a:p>
            <a:endParaRPr sz="1400">
              <a:solidFill>
                <a:srgbClr val="003D73"/>
              </a:solidFill>
              <a:latin typeface="Consolas"/>
            </a:endParaRP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OpenSearch Dashboards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    全文検索 / 集計 / アナライザー可視化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D73"/>
                </a:solidFill>
                <a:latin typeface="Meiryo"/>
              </a:rPr>
              <a:t>発表の流れ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3716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iryo"/>
              </a:rPr>
              <a:t>① AWS構築の手順を解説
② バッチ処理の実装を解説
③ Dashboards でデモ
④ 全文検索の仕組みを解説
   （転置インデックス・BM25）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D73"/>
                </a:solidFill>
                <a:latin typeface="Meiryo"/>
              </a:rPr>
              <a:t>将来の拡張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9377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Meiryo"/>
              </a:rPr>
              <a:t>PDF → XBRL: 財務数値の構造化検索
Bedrock連携: セマンティック検索（後半で解説）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Amazon OpenSearch Service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AWS 構築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3"/>
                </a:solidFill>
                <a:latin typeface="Meiryo"/>
              </a:rPr>
              <a:t>= OpenSearch（Elasticsearch互換）のマネージドサービス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9344"/>
            <a:ext cx="11274552" cy="246888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737360"/>
            <a:ext cx="11018520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項目               ローカルDocker                AWS OpenSearch Service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kuromoji          Dockerfileでインストール       標準搭載済み（設定不要）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セキュリティ設定   DISABLE_SECURITY_PLUGIN=true  IAM / IPポリシーで制御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Dashboards URL    localhost:5601                AWSが自動でエンドポイントを提供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運用              自分でDocker管理               マネージド（パッチ・スケール）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コスト            無料（ローカル）               t3.small.search 約$25/月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11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D73"/>
                </a:solidFill>
                <a:latin typeface="Meiryo"/>
              </a:rPr>
              <a:t>今回使う構成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72584"/>
            <a:ext cx="11274552" cy="109728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4800600"/>
            <a:ext cx="1101852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・t3.small.search × 1ノード（開発/テスト用・最小構成）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・パブリックアクセス + IPアドレスベースの許可ポリシー（デモ用）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・Dashboards は AWS が自動提供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ドメイン作成 ①  コンソールを開く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AWS 構築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事前確認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17904"/>
            <a:ext cx="5943600" cy="169164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645920"/>
            <a:ext cx="5687568" cy="1435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・AWSアカウントにログイン済みであること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・操作ユーザーに以下のいずれかのIAM権限があること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AmazonOpenSearchServiceFullAccess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または AdministratorAccess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・自分のグローバルIPアドレスを把握しておく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確認: https://checkip.amazonaws.com/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670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66"/>
                </a:solidFill>
                <a:latin typeface="Meiryo"/>
              </a:rPr>
              <a:t>「ドメイン」= OpenSearch クラスターの管理単位（1ドメイン = 1クラスター）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52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AWSコンソール操作フロー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63624"/>
            <a:ext cx="5486400" cy="713232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72821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① AWSコンソールにログイン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7685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66"/>
                </a:solidFill>
                <a:latin typeface="Meiryo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23744"/>
            <a:ext cx="5486400" cy="713232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6883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② 上部検索 →「OpenSearch」と入力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3697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66"/>
                </a:solidFill>
                <a:latin typeface="Meiryo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483864"/>
            <a:ext cx="5486400" cy="713232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6484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③ Amazon OpenSearch Service を選択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97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66"/>
                </a:solidFill>
                <a:latin typeface="Meiryo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443984"/>
            <a:ext cx="5486400" cy="713232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6085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④ 左メニュー「ドメイン」をクリック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5721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66"/>
                </a:solidFill>
                <a:latin typeface="Meiryo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404104"/>
            <a:ext cx="5486400" cy="713232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55686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⑤「ドメインの作成」ボタンをクリック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ドメイン作成 ②  デプロイタイプ・バージョン・ドメイン名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AWS 構築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デプロイタイプ ― 最初に選ぶ最重要項目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17904"/>
            <a:ext cx="11274552" cy="224028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645920"/>
            <a:ext cx="11018520" cy="1984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                      開発/テスト（今回）            本番用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ノード構成            1ノード固定                    マルチAZ（最低3ノード）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レプリカシャード      なし                           あり（自動設定）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ノード障害耐性        低い（停止する）               高い（AZ障害でも継続）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コスト                最小構成                       2〜3倍程度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用途                  PoC・デモ・開発                サービス本番投入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4106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バージョン選択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06824"/>
            <a:ext cx="5669280" cy="123444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4434840"/>
            <a:ext cx="5413248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OpenSearch バージョン: 最新の 2.x を選択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→ マイナーアップデートは AWS が自動適用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→ Elasticsearch 互換 API は 7.10 まで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4106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ドメイン名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306824"/>
            <a:ext cx="5212080" cy="16002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0256" y="4434840"/>
            <a:ext cx="4956048" cy="1344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edinet-search（任意の文字列）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エンドポイントURLの一部になる: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search-edinet-search-xxxx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.ap-northeast-1.es.amazonaws.com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24144"/>
            <a:ext cx="11274552" cy="73152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815584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eiryo"/>
              </a:rPr>
              <a:t>今回の選択:  デプロイタイプ「開発/テスト」  ／  OpenSearch 2.x  ／  ドメイン名「edinet-search」  ／  リージョン 東京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ドメイン作成 ③  データノード設定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AWS 構築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今回の設定値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17904"/>
            <a:ext cx="5943600" cy="210312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645920"/>
            <a:ext cx="5687568" cy="1847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3D73"/>
                </a:solidFill>
                <a:latin typeface="Consolas"/>
              </a:rPr>
              <a:t>設定項目              今回の値           説明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────────────────────────────────────────────────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インスタンスタイプ   t3.small.search    vCPU 2 / RAM 2GB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ノード数             1                  開発/テスト固定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ストレージタイプ      EBS gp3 (SSD)     高速・低遅延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ストレージ容量        10 GB             有報テキストに十分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152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本番環境を想定する場合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517904"/>
            <a:ext cx="5029200" cy="27432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03136" y="1645920"/>
            <a:ext cx="4773168" cy="2487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3D73"/>
                </a:solidFill>
                <a:latin typeface="Consolas"/>
              </a:rPr>
              <a:t>インスタンスタイプ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  r6g.large.search 以上を推奨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  (vCPU 2 / RAM 16GB)</a:t>
            </a:r>
          </a:p>
          <a:p>
            <a:endParaRPr sz="1200">
              <a:solidFill>
                <a:srgbClr val="003D73"/>
              </a:solidFill>
              <a:latin typeface="Consolas"/>
            </a:endParaRP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ノード数: 3以上 (マルチAZ)</a:t>
            </a:r>
          </a:p>
          <a:p>
            <a:endParaRPr sz="1200">
              <a:solidFill>
                <a:srgbClr val="003D73"/>
              </a:solidFill>
              <a:latin typeface="Consolas"/>
            </a:endParaRP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ストレージ: 50GB 以上</a:t>
            </a:r>
          </a:p>
          <a:p>
            <a:endParaRPr sz="1200">
              <a:solidFill>
                <a:srgbClr val="003D73"/>
              </a:solidFill>
              <a:latin typeface="Consolas"/>
            </a:endParaRP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※ コスト目安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  t3.small: ~$25/月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  r6g.large x3: ~$600/月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5344"/>
            <a:ext cx="11274552" cy="6858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4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eiryo"/>
              </a:rPr>
              <a:t>今回の選択:  インスタンスタイプ t3.small.search  /  ノード数 1  /  EBS gp3 10GB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ドメイン作成 ④  ネットワーク設定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AWS 構築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ネットワーク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17904"/>
            <a:ext cx="11274552" cy="105156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645920"/>
            <a:ext cx="1101852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選択: ● パブリックアクセス   ○ VPC 内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理由: デモ用。本番はVPCが推奨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4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きめ細かいアクセスコントロール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18104"/>
            <a:ext cx="11274552" cy="105156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3246120"/>
            <a:ext cx="1101852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選択: ● 無効化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理由: IPポリシーで制御するため不要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  有効化するとOpenSearch内ユーザー管理が必要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52544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アクセスポリシー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18304"/>
            <a:ext cx="11274552" cy="105156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6" y="4846320"/>
            <a:ext cx="1101852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選択: ● カスタムアクセスポリシー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内容: 次のスライドで設定するIPアドレス制限JSON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ドメイン作成 ⑤  アクセスポリシー設定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AWS 構築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3"/>
                </a:solidFill>
                <a:latin typeface="Meiryo"/>
              </a:rPr>
              <a:t>カスタムアクセスポリシーに以下を入力: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9344"/>
            <a:ext cx="6858000" cy="41148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737360"/>
            <a:ext cx="6601968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3D73"/>
                </a:solidFill>
                <a:latin typeface="Consolas"/>
              </a:rPr>
              <a:t>{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"Version": "2012-10-17",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"Statement": [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{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"Effect": "Allow",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"Principal": { "AWS": "*" },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"Action": "es:*",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"Resource": "arn:aws:es:ap-northeast-1:アカウントID:domain/edinet-search/*",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"Condition": {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  "IpAddress": {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    "aws:SourceIp": [ "自分のグローバルIP/32" ]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  }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}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}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]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15214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3"/>
                </a:solidFill>
                <a:latin typeface="Meiryo"/>
              </a:rPr>
              <a:t>自分のグローバルIPの確認: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609344"/>
            <a:ext cx="4297680" cy="50292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7536" y="1737360"/>
            <a:ext cx="404164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https://checkip.amazonaws.com/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95144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eiryo"/>
              </a:rPr>
              <a:t>ポイント:
・Principal が "*" でも
  Condition の IP 制限が効く
・Resource の末尾に /* が必要
  （ドメイン内の全操作を許可）
・複数IPを許可するには
  配列に追加するだけ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ドメイン作成 ⑥  作成完了・エンドポイント確認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AWS 構築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52144"/>
            <a:ext cx="11274552" cy="96012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280160"/>
            <a:ext cx="1101852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003D73"/>
                </a:solidFill>
                <a:latin typeface="Consolas"/>
              </a:rPr>
              <a:t>「作成」クリック後: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ステータス: 「作成中」→「アクティブ」（15〜20分）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ステータスが GREEN になれば完了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9424"/>
            <a:ext cx="5486400" cy="1554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"/>
              </a:rPr>
              <a:t>ドメインエンドポイント
(batch/.env の OPENSEARCH_HOST に設定)
https://search-edinet-search-xxxx
      .ap-northeast-1.es.amazonaws.com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49424"/>
            <a:ext cx="5486400" cy="155448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35915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"/>
              </a:rPr>
              <a:t>OpenSearch Dashboards URL
(ブラウザで直接開く)
https://search-edinet-search-xxxx
      .ap-northeast-1.es.amazonaws.com/_dashboards/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41064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Meiryo"/>
              </a:rPr>
              <a:t>xxxx は AWS が自動生成するランダム文字列。ドメイン詳細ページで確認できる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バッチの接続先変更（.env を書き換えるだけ）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AWS 構築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52144"/>
            <a:ext cx="9144000" cy="292608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280160"/>
            <a:ext cx="8887968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003D73"/>
                </a:solidFill>
                <a:latin typeface="Consolas"/>
              </a:rPr>
              <a:t># batch/.env</a:t>
            </a:r>
          </a:p>
          <a:p>
            <a:endParaRPr sz="1350">
              <a:solidFill>
                <a:srgbClr val="003D73"/>
              </a:solidFill>
              <a:latin typeface="Consolas"/>
            </a:endParaRP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EDINET_API_KEY=xxxxxxxxxxxxxxxxxxxx</a:t>
            </a:r>
          </a:p>
          <a:p>
            <a:endParaRPr sz="1350">
              <a:solidFill>
                <a:srgbClr val="003D73"/>
              </a:solidFill>
              <a:latin typeface="Consolas"/>
            </a:endParaRP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# 変更前（ローカルDocker）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# OPENSEARCH_HOST=http://localhost:9200</a:t>
            </a:r>
          </a:p>
          <a:p>
            <a:endParaRPr sz="1350">
              <a:solidFill>
                <a:srgbClr val="003D73"/>
              </a:solidFill>
              <a:latin typeface="Consolas"/>
            </a:endParaRP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# 変更後（AWS OpenSearch Service）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OPENSEARCH_HOST=https://search-edinet-search-xxxx.ap-northeast-1.es.amazonaws.com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61104"/>
            <a:ext cx="9144000" cy="109728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4389120"/>
            <a:ext cx="8887968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003D73"/>
                </a:solidFill>
                <a:latin typeface="Consolas"/>
              </a:rPr>
              <a:t># バッチを実行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cd batch/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python main.py --start 2024-04-01 --end 2025-03-31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9554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D4"/>
                </a:solidFill>
                <a:latin typeface="Meiryo"/>
              </a:rPr>
              <a:t>コードの変更はゼロ。エンドポイントURLを変えるだけ。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98464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Meiryo"/>
              </a:rPr>
              <a:t>※ IPポリシーで認証しているのでコード側にAWS認証情報を書く必要がない
  IAM認証を使う場合は opensearch-py の RequestsAWSV4SignerAuth が必要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なぜ kuromoji が必要か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実装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52144"/>
            <a:ext cx="6858000" cy="41148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280160"/>
            <a:ext cx="6601968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003D73"/>
                </a:solidFill>
                <a:latin typeface="Consolas"/>
              </a:rPr>
              <a:t>英語: スペースで区切られる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"sales increased" → ["sales", "increased"]   問題なし</a:t>
            </a:r>
          </a:p>
          <a:p>
            <a:endParaRPr sz="1350">
              <a:solidFill>
                <a:srgbClr val="003D73"/>
              </a:solidFill>
              <a:latin typeface="Consolas"/>
            </a:endParaRP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日本語: スペースがない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"売上高が大幅に増加した"</a:t>
            </a:r>
          </a:p>
          <a:p>
            <a:endParaRPr sz="1350">
              <a:solidFill>
                <a:srgbClr val="003D73"/>
              </a:solidFill>
              <a:latin typeface="Consolas"/>
            </a:endParaRP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標準アナライザー（standard）: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→ ["売", "上", "高", "が", "大", "幅", "に", "増", "加", "し", "た"]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→ 「売上高」で検索してもヒットしない ✗</a:t>
            </a:r>
          </a:p>
          <a:p>
            <a:endParaRPr sz="1350">
              <a:solidFill>
                <a:srgbClr val="003D73"/>
              </a:solidFill>
              <a:latin typeface="Consolas"/>
            </a:endParaRP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今回の kuromoji カスタムアナライザー: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→ ["売上", "高", "大幅", "増加"]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※ 助詞・助動詞を除去（"が","に","し","た"）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※ "売上高" はIPAdic辞書上 "売上"+"高" と分割される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15214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4"/>
                </a:solidFill>
                <a:latin typeface="Meiryo"/>
              </a:rPr>
              <a:t>AWS版では標準搭載・カスタム設定で利用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609344"/>
            <a:ext cx="4023360" cy="292608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0416" y="1737360"/>
            <a:ext cx="3767328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GET edinet-reports/_analyze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{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"analyzer": "kuromoji",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"text": "売上高が大幅に増加した"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}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// 実測結果: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// ["売上", "高", "大幅", "増加"]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// ※ 助詞除去・"売上高"は2トークンに分割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672584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Meiryo"/>
              </a:rPr>
              <a:t>このトークン列が
BM25スコアリングの入力になる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バッチ処理の流れ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実装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52144"/>
            <a:ext cx="7132320" cy="475488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280160"/>
            <a:ext cx="6876288" cy="4498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003D73"/>
                </a:solidFill>
                <a:latin typeface="Consolas"/>
              </a:rPr>
              <a:t>① 日付範囲をループ（1日単位でAPIを叩く）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2024-04-01 → 6件（三菱UFJなど）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2024-04-02 → 0件（土日：スキップ）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︙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2024-06-25 → 3件（ソニー・トヨタ・三菱UFJの有報）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→ 1年分で合計 136件</a:t>
            </a:r>
          </a:p>
          <a:p>
            <a:endParaRPr sz="1350">
              <a:solidFill>
                <a:srgbClr val="003D73"/>
              </a:solidFill>
              <a:latin typeface="Consolas"/>
            </a:endParaRP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② 各書類のPDFをダウンロード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例: ソニー有報 → 約8MBのPDFバイナリ</a:t>
            </a:r>
          </a:p>
          <a:p>
            <a:endParaRPr sz="1350">
              <a:solidFill>
                <a:srgbClr val="003D73"/>
              </a:solidFill>
              <a:latin typeface="Consolas"/>
            </a:endParaRP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③ pdfminerでテキスト抽出（先頭30ページ）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→ "第1【企業の概況】\n売上高 13,020,916百万円..."</a:t>
            </a:r>
          </a:p>
          <a:p>
            <a:endParaRPr sz="1350">
              <a:solidFill>
                <a:srgbClr val="003D73"/>
              </a:solidFill>
              <a:latin typeface="Consolas"/>
            </a:endParaRP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④ 20件溜まったらAWS OpenSearchへbulk投入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1521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D73"/>
                </a:solidFill>
                <a:latin typeface="Meiryo"/>
              </a:rPr>
              <a:t>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09344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eiryo"/>
              </a:rPr>
              <a:t>5社・1年分・136件
約5分・エラー0件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5237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D73"/>
                </a:solidFill>
                <a:latin typeface="Meiryo"/>
              </a:rPr>
              <a:t>実装ポイント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935224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eiryo"/>
              </a:rPr>
              <a:t>・EDINETは1日単位のAPI設計
  → 日付ループが必要
・先頭30ページのみ
  → 重要情報は前半に集中
・_id にEDINET書類IDを使用
  → 再実行しても重複しない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インデックス設計（フィールドの型の使い分け）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実装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52144"/>
            <a:ext cx="11274552" cy="192024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280160"/>
            <a:ext cx="11018520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003D73"/>
                </a:solidFill>
                <a:latin typeface="Consolas"/>
              </a:rPr>
              <a:t>フィールド       型                 理由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body            text（kuromoji）    全文検索 → 形態素解析が必要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company_name    text（kuromoji）    全文検索 + 集計（.keywordサブフィールド）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form_code       keyword             完全一致フィルタのみ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submitted_at    date                期間フィルタ・時系列集計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3"/>
                </a:solidFill>
                <a:latin typeface="Meiryo"/>
              </a:rPr>
              <a:t>text 型 vs keyword 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21024"/>
            <a:ext cx="5943600" cy="237744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" y="3749040"/>
            <a:ext cx="5687568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text型（kuromoji）: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"ソニーグループ株式会社"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→ ["ソニー", "グループ", "株式会社"]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→ 「ソニー」で全文検索できる ✓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keyword型: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"ソニーグループ株式会社" → そのまま保持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→ 完全一致・集計専用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5526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3"/>
                </a:solidFill>
                <a:latin typeface="Meiryo"/>
              </a:rPr>
              <a:t>型を間違えた場合の影響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621024"/>
            <a:ext cx="5212080" cy="306324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11696" y="3749040"/>
            <a:ext cx="4956048" cy="2807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3D73"/>
                </a:solidFill>
                <a:latin typeface="Consolas"/>
              </a:rPr>
              <a:t>form_code を text にした場合: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"030000" → ["0", "3", "0", "0", "0", "0"]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→ term フィルタで完全一致できない ✗</a:t>
            </a:r>
          </a:p>
          <a:p>
            <a:endParaRPr sz="1250">
              <a:solidFill>
                <a:srgbClr val="003D73"/>
              </a:solidFill>
              <a:latin typeface="Consolas"/>
            </a:endParaRP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body を keyword にした場合: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本文全体が1つのトークン扱いになる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→ 全文検索が一切できない ✗</a:t>
            </a:r>
          </a:p>
          <a:p>
            <a:endParaRPr sz="1250">
              <a:solidFill>
                <a:srgbClr val="003D73"/>
              </a:solidFill>
              <a:latin typeface="Consolas"/>
            </a:endParaRP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submitted_at を text にした場合: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日付として認識されない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→ range フィルタや時系列グラフが使えない ✗</a:t>
            </a:r>
          </a:p>
          <a:p>
            <a:endParaRPr sz="1250">
              <a:solidFill>
                <a:srgbClr val="003D73"/>
              </a:solidFill>
              <a:latin typeface="Consolas"/>
            </a:endParaRP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マッピングは作成後に変更不可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→ 最初に正しく設計することが重要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デモ準備 ―  Index Pattern とは・作成手順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デモ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Index Pattern とは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17904"/>
            <a:ext cx="5486400" cy="173736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645920"/>
            <a:ext cx="5230368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3D73"/>
                </a:solidFill>
                <a:latin typeface="Consolas"/>
              </a:rPr>
              <a:t>Dashboards は OpenSearch にどんなインデックスがあるかを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自動では知らない。Index Pattern で「このインデックスを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Dashboards で使う」と教える必要がある。</a:t>
            </a:r>
          </a:p>
          <a:p>
            <a:endParaRPr sz="1250">
              <a:solidFill>
                <a:srgbClr val="003D73"/>
              </a:solidFill>
              <a:latin typeface="Consolas"/>
            </a:endParaRP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Time field（submitted_at）を指定することで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Discover の時系列ヒストグラムが有効になる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924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作成手順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58184"/>
            <a:ext cx="5486400" cy="557784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8679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① OpenSearch Dashboards を開く（エンドポイント/_dashboards/）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43400"/>
            <a:ext cx="5486400" cy="557784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4531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② 左メニュー → Management → Dashboards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28616"/>
            <a:ext cx="5486400" cy="557784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0383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③ Index Patterns → 「Create index pattern」ボタン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13832"/>
            <a:ext cx="5486400" cy="557784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623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④ Index pattern name: edinet-reports と入力 → Next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099048"/>
            <a:ext cx="5486400" cy="557784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2087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⑤ Time field: submitted_at を選択 → Create index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152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作成完了後に確認できるフィールド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517904"/>
            <a:ext cx="5486400" cy="27432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28816" y="1645920"/>
            <a:ext cx="5230368" cy="2487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3D73"/>
                </a:solidFill>
                <a:latin typeface="Consolas"/>
              </a:rPr>
              <a:t>作成完了後に確認できるフィールド一覧:</a:t>
            </a:r>
          </a:p>
          <a:p>
            <a:endParaRPr sz="1200">
              <a:solidFill>
                <a:srgbClr val="003D73"/>
              </a:solidFill>
              <a:latin typeface="Consolas"/>
            </a:endParaRP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フィールド名      型          用途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───────────────────────────────────────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body             text        全文検索（kuromoji）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company_name     text        企業名検索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company_name.keyword keyword 集計・フィルタ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submitted_at     date        時系列フィルタ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form_code        keyword     書類種別フィルタ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period_start     date        決算期フィルタ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デモ①  Discover でデータを確認する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デモ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操作手順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303520" cy="512064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367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eiryo"/>
              </a:rPr>
              <a:t>① 左メニュー → Discover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84832"/>
            <a:ext cx="5303520" cy="512064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854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eiryo"/>
              </a:rPr>
              <a:t>② 右上の期間を 2024-04-01 〜 2025-03-31 に変更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33472"/>
            <a:ext cx="5303520" cy="512064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7340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eiryo"/>
              </a:rPr>
              <a:t>③ 左のフィールド一覧から company_name / form_name / submitted_at を追加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82112"/>
            <a:ext cx="5303520" cy="512064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2826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eiryo"/>
              </a:rPr>
              <a:t>④ form_code : 030000 でフィルタ → 有価証券報告書のみに絞る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221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注目ポイント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5303520" cy="13716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334256"/>
            <a:ext cx="5047488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3D73"/>
                </a:solidFill>
                <a:latin typeface="Consolas"/>
              </a:rPr>
              <a:t>時系列ヒストグラム: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3月末・6月末に山 → 決算後3ヶ月以内に提出の義務</a:t>
            </a:r>
          </a:p>
          <a:p>
            <a:endParaRPr sz="1250">
              <a:solidFill>
                <a:srgbClr val="003D73"/>
              </a:solidFill>
              <a:latin typeface="Consolas"/>
            </a:endParaRP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form_code でフィルタすると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四半期報告書 と 有価証券報告書 を切り分けられる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15214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画面に出てくるデータ（ドキュメント一覧の例）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563624"/>
            <a:ext cx="5669280" cy="740664"/>
          </a:xfrm>
          <a:prstGeom prst="rect">
            <a:avLst/>
          </a:prstGeom>
          <a:solidFill>
            <a:srgbClr val="F4F7FB"/>
          </a:solidFill>
          <a:ln w="6350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16093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D73"/>
                </a:solidFill>
                <a:latin typeface="Meiryo"/>
              </a:rPr>
              <a:t>ソニーグループ株式会社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19110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Meiryo"/>
              </a:rPr>
              <a:t>有価証券報告書－第107期   2024-06-25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40864"/>
            <a:ext cx="5669280" cy="740664"/>
          </a:xfrm>
          <a:prstGeom prst="rect">
            <a:avLst/>
          </a:prstGeom>
          <a:solidFill>
            <a:srgbClr val="F4F7FB"/>
          </a:solidFill>
          <a:ln w="6350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23865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D73"/>
                </a:solidFill>
                <a:latin typeface="Meiryo"/>
              </a:rPr>
              <a:t>トヨタ自動車株式会社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6883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Meiryo"/>
              </a:rPr>
              <a:t>有価証券報告書－第120期   2024-06-21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118104"/>
            <a:ext cx="5669280" cy="740664"/>
          </a:xfrm>
          <a:prstGeom prst="rect">
            <a:avLst/>
          </a:prstGeom>
          <a:solidFill>
            <a:srgbClr val="F4F7FB"/>
          </a:solidFill>
          <a:ln w="6350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7648" y="31638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D73"/>
                </a:solidFill>
                <a:latin typeface="Meiryo"/>
              </a:rPr>
              <a:t>株式会社三菱ＵＦＪフィナンシャル・グループ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4655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Meiryo"/>
              </a:rPr>
              <a:t>有価証券報告書   2024-06-28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895344"/>
            <a:ext cx="5669280" cy="740664"/>
          </a:xfrm>
          <a:prstGeom prst="rect">
            <a:avLst/>
          </a:prstGeom>
          <a:solidFill>
            <a:srgbClr val="FFF8E1"/>
          </a:solidFill>
          <a:ln w="6350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27648" y="39410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D73"/>
                </a:solidFill>
                <a:latin typeface="Meiryo"/>
              </a:rPr>
              <a:t>任天堂株式会社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2428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Meiryo"/>
              </a:rPr>
              <a:t>四半期報告書－第85期第1四半期   2024-08-06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72584"/>
            <a:ext cx="5669280" cy="740664"/>
          </a:xfrm>
          <a:prstGeom prst="rect">
            <a:avLst/>
          </a:prstGeom>
          <a:solidFill>
            <a:srgbClr val="F4F7FB"/>
          </a:solidFill>
          <a:ln w="6350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7648" y="47183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D73"/>
                </a:solidFill>
                <a:latin typeface="Meiryo"/>
              </a:rPr>
              <a:t>株式会社キーエンス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0200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Meiryo"/>
              </a:rPr>
              <a:t>有価証券報告書   2024-06-17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49554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Meiryo"/>
              </a:rPr>
              <a:t>青背景: 有価証券報告書（030000）  黄背景: 四半期報告書（042000）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デモ②  kuromoji 形態素解析の可視化（Dev Tools）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デモ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52144"/>
            <a:ext cx="5486400" cy="164592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280160"/>
            <a:ext cx="5230368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3D73"/>
                </a:solidFill>
                <a:latin typeface="Consolas"/>
              </a:rPr>
              <a:t>GET edinet-reports/_analyze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{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  "analyzer": "kuromoji",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  "text": "売上高が大幅に増加した"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2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レスポンス（実測値・抜粋）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00984"/>
            <a:ext cx="5486400" cy="22860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" y="3429000"/>
            <a:ext cx="5230368" cy="2029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003D73"/>
                </a:solidFill>
                <a:latin typeface="Consolas"/>
              </a:rPr>
              <a:t>{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"tokens": [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{ "token": "売上", "position": 0 },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{ "token": "高",   "position": 1 },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{ "token": "大幅", "position": 3 },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{ "token": "増加", "position": 5 }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]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52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ポイント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17904"/>
            <a:ext cx="5486400" cy="36576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1645920"/>
            <a:ext cx="5230368" cy="3401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助詞「が」「に」「し」「た」が除去され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意味のある語だけが残る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「売上高」は「売上」+「高」の2トークンに分割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→ kuromojiの辞書では複合語として登録されていない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position が連番でないのは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除去されたトークンの位置分が抜けるため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（が=1, に=4, し=6, た=7 が除去）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この token 列が BM25 スコアリングの入力になる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デモ③  全文検索 ＋ ハイライト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デモ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52144"/>
            <a:ext cx="6400800" cy="347472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280160"/>
            <a:ext cx="6144768" cy="3218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003D73"/>
                </a:solidFill>
                <a:latin typeface="Consolas"/>
              </a:rPr>
              <a:t>GET edinet-reports/_search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{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"query": {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"match": { "body": "売上高" }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},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"_source": ["company_name", "form_name", "submitted_at"],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"highlight": {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  "fields": { "body": {} }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},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  "size": 5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640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各フィールドの役割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29783"/>
            <a:ext cx="6400800" cy="141732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" y="5257799"/>
            <a:ext cx="6144768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3D73"/>
                </a:solidFill>
                <a:latin typeface="Consolas"/>
              </a:rPr>
              <a:t>match         : kuromojiで解析 → 転置インデックス → BM25スコア計算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_source       : レスポンスに含めるフィールド（body全文は巨大なので省く）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"body": {}    : body をデフォルト設定でハイライト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          （fragment_size=100文字 / 最大5スニペット）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size          : 返すドキュメント数（デフォルト 10）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1521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3"/>
                </a:solidFill>
                <a:latin typeface="Meiryo"/>
              </a:rPr>
              <a:t>クエリ処理の流れ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517904"/>
            <a:ext cx="4663440" cy="466344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0336" y="1645920"/>
            <a:ext cx="4407408" cy="4407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3D73"/>
                </a:solidFill>
                <a:latin typeface="Consolas"/>
              </a:rPr>
              <a:t>① "売上高" を受け取る</a:t>
            </a:r>
          </a:p>
          <a:p>
            <a:endParaRPr sz="1250">
              <a:solidFill>
                <a:srgbClr val="003D73"/>
              </a:solidFill>
              <a:latin typeface="Consolas"/>
            </a:endParaRP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② kuromoji で形態素解析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"売上高" → ["売上", "高"] (2トークン)</a:t>
            </a:r>
          </a:p>
          <a:p>
            <a:endParaRPr sz="1250">
              <a:solidFill>
                <a:srgbClr val="003D73"/>
              </a:solidFill>
              <a:latin typeface="Consolas"/>
            </a:endParaRP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③ 転置インデックスを参照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"売上" → [doc1, doc2 ...]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"高"   → [doc1, doc3 ...]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全文書を舐めず瞬時に候補を取得</a:t>
            </a:r>
          </a:p>
          <a:p>
            <a:endParaRPr sz="1250">
              <a:solidFill>
                <a:srgbClr val="003D73"/>
              </a:solidFill>
              <a:latin typeface="Consolas"/>
            </a:endParaRP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④ 各文書の BM25 スコアを計算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IDF（語の希少性）×TF（出現頻度・文書長補正）</a:t>
            </a:r>
          </a:p>
          <a:p>
            <a:endParaRPr sz="1250">
              <a:solidFill>
                <a:srgbClr val="003D73"/>
              </a:solidFill>
              <a:latin typeface="Consolas"/>
            </a:endParaRP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⑤ スコア降順で上位 size 件を返す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+ highlight スニペット付き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デモ③  全文検索 ＋ ハイライト（レスポンス）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デモ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52144"/>
            <a:ext cx="11274552" cy="356616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280160"/>
            <a:ext cx="11018520" cy="3310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3D73"/>
                </a:solidFill>
                <a:latin typeface="Consolas"/>
              </a:rPr>
              <a:t>"hits": [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{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"_score": 4.429,   ← BM25スコア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"_source": {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"company_name": "株式会社キーエンス",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"form_name":    "有価証券報告書－第108期(2023/04/01－2024/03/31)",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"submitted_at": "2024-06-17"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},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"highlight": {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"body": [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  "...については、&lt;em&gt;売上&lt;/em&gt;&lt;em&gt;高&lt;/em&gt;（連結会社間の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    内部&lt;em&gt;売上&lt;/em&gt;&lt;em&gt;高&lt;/em&gt;を除く）の連結&lt;em&gt;売上&lt;/em&gt;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    &lt;em&gt;高&lt;/em&gt;に占める割合が10％を超えております。"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]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}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}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55464"/>
            <a:ext cx="11274552" cy="1527048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4983480"/>
            <a:ext cx="1101852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003D73"/>
                </a:solidFill>
                <a:latin typeface="Consolas"/>
              </a:rPr>
              <a:t>フィールド         値                              意味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_score            4.429                          BM25スコア（高いほど関連性高）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company_name      株式会社キーエンス              企業名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form_name         有価証券報告書－第108期...      書類名（決算期を含む）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submitted_at      2024-06-17                     提出日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highlight.body    &lt;em&gt;売上&lt;/em&gt;&lt;em&gt;高&lt;/em&gt;...    ヒット箇所スニペット（100文字×最大5件）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デモ④  企業横断集計クエリ（bool + aggs）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デモ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Meiryo"/>
              </a:rPr>
              <a:t>Dev Tools に貼り付けて実行できるクエリ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99032"/>
            <a:ext cx="6217920" cy="384048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527048"/>
            <a:ext cx="5961888" cy="3584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GET edinet-reports/_search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{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"query": {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"bool": {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  "must":   { "match": { "body": "リスク" } },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  "filter": { "term": { "form_code": "030000" } }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},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"aggs": {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"by_company": {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  "terms": { "field": "company_name.keyword" }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},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"size": 5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051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3D73"/>
                </a:solidFill>
                <a:latin typeface="Meiryo"/>
              </a:rPr>
              <a:t>bool クエリ：複数条件の組み合わせ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399032"/>
            <a:ext cx="4754880" cy="237744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68896" y="1527048"/>
            <a:ext cx="4498848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3D73"/>
                </a:solidFill>
                <a:latin typeface="Consolas"/>
              </a:rPr>
              <a:t>must  ─ スコアを計算する条件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        BM25でランキングに使われる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        （ヒット数が多い企業が上位に）</a:t>
            </a:r>
          </a:p>
          <a:p>
            <a:endParaRPr sz="1200">
              <a:solidFill>
                <a:srgbClr val="003D73"/>
              </a:solidFill>
              <a:latin typeface="Consolas"/>
            </a:endParaRP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filter ─ yes/no だけ判定する条件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        スコアに影響しない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        内部でキャッシュされるので高速</a:t>
            </a:r>
          </a:p>
          <a:p>
            <a:r>
              <a:rPr sz="1200">
                <a:solidFill>
                  <a:srgbClr val="003D73"/>
                </a:solidFill>
                <a:latin typeface="Consolas"/>
              </a:rPr>
              <a:t>        「有報（030000）だけに絞る」に最適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886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3D73"/>
                </a:solidFill>
                <a:latin typeface="Meiryo"/>
              </a:rPr>
              <a:t>aggs + terms：企業ごとに件数を集計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4224528"/>
            <a:ext cx="4754880" cy="25146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68896" y="4352544"/>
            <a:ext cx="4498848" cy="2258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003D73"/>
                </a:solidFill>
                <a:latin typeface="Consolas"/>
              </a:rPr>
              <a:t>"by_company" ─ 集計結果につける名前（任意）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"terms"       ─ field の値ごとにバケットを作る</a:t>
            </a:r>
          </a:p>
          <a:p>
            <a:endParaRPr sz="1150">
              <a:solidFill>
                <a:srgbClr val="003D73"/>
              </a:solidFill>
              <a:latin typeface="Consolas"/>
            </a:endParaRP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"company_name.keyword"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  .keyword がついている理由: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  text 型は形態素解析で分割される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  "ソニーグループ株式会社"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  → ["ソニー","グループ","株式会社"] ← 分割 ✗</a:t>
            </a:r>
          </a:p>
          <a:p>
            <a:r>
              <a:rPr sz="1150">
                <a:solidFill>
                  <a:srgbClr val="003D73"/>
                </a:solidFill>
                <a:latin typeface="Consolas"/>
              </a:rPr>
              <a:t>  .keyword は分割しない → 企業名単位で正確に集計 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デモ④  企業横断集計（レスポンス）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デモ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52144"/>
            <a:ext cx="11338560" cy="32004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280160"/>
            <a:ext cx="11082528" cy="2944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3D73"/>
                </a:solidFill>
                <a:latin typeface="Consolas"/>
              </a:rPr>
              <a:t>"aggregations": {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"by_company": {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"buckets": [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{ "key": "ソニーグループ株式会社",              "doc_count": 1 },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{ "key": "トヨタ自動車株式会社",                "doc_count": 1 },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{ "key": "任天堂株式会社",                      "doc_count": 1 },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{ "key": "株式会社キーエンス",                  "doc_count": 1 },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  { "key": "株式会社三菱ＵＦＪフィナンシャル・グループ", "doc_count": 1 }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  ]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  }</a:t>
            </a:r>
          </a:p>
          <a:p>
            <a:r>
              <a:rPr sz="1250">
                <a:solidFill>
                  <a:srgbClr val="003D7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9704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Meiryo"/>
              </a:rPr>
              <a:t>全5社それぞれ「リスク」を含む有価証券報告書が1件ずつヒット（body抽出済み文書のみが集計対象）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46904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読み方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12664"/>
            <a:ext cx="11274552" cy="9144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5440680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3D73"/>
                </a:solidFill>
                <a:latin typeface="Consolas"/>
              </a:rPr>
              <a:t>"key"       → 企業名（company_name.keyword の値）</a:t>
            </a:r>
          </a:p>
          <a:p>
            <a:r>
              <a:rPr sz="1000">
                <a:solidFill>
                  <a:srgbClr val="003D73"/>
                </a:solidFill>
                <a:latin typeface="Consolas"/>
              </a:rPr>
              <a:t>"doc_count" → この企業の有報で「リスク」が本文に含まれる件数</a:t>
            </a:r>
          </a:p>
          <a:p>
            <a:r>
              <a:rPr sz="1000">
                <a:solidFill>
                  <a:srgbClr val="003D73"/>
                </a:solidFill>
                <a:latin typeface="Consolas"/>
              </a:rPr>
              <a:t>              今回はいずれも 1（body 抽出済み有報が各社 1 件ずつ）</a:t>
            </a:r>
          </a:p>
          <a:p>
            <a:r>
              <a:rPr sz="1000">
                <a:solidFill>
                  <a:srgbClr val="003D73"/>
                </a:solidFill>
                <a:latin typeface="Consolas"/>
              </a:rPr>
              <a:t>size: 0    → hits.hits は空。集計結果だけ効率よく取得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18504"/>
            <a:ext cx="11274552" cy="457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391656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eiryo"/>
              </a:rPr>
              <a:t>全文書 136件中、「リスク」を含む有価証券報告書（form_code=030000）は各社1件ずつ ＝ 5件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全文検索の仕組み ― 転置インデックス ＋ BM25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理論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3"/>
                </a:solidFill>
                <a:latin typeface="Meiryo"/>
              </a:rPr>
              <a:t>① 転置インデックス ― 速さの秘密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63624"/>
            <a:ext cx="5486400" cy="32004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691640"/>
            <a:ext cx="5230368" cy="2944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単語 → 文書 の逆引き辞書をOpenSearchが自動で作る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"売上高" → [doc1（ソニー）, doc2（トヨタ）, ...]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"自動車" → [doc2（トヨタ）]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"半導体" → [doc2（トヨタ）]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「売上高」で検索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→ 転置インデックスを引く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→ 全文書を舐めずに該当文書が瞬時にわかる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521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3"/>
                </a:solidFill>
                <a:latin typeface="Meiryo"/>
              </a:rPr>
              <a:t>② BM25スコアリング ― _score の正体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63624"/>
            <a:ext cx="5486400" cy="32004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8816" y="1691640"/>
            <a:ext cx="5230368" cy="2944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3D73"/>
                </a:solidFill>
                <a:latin typeface="Consolas"/>
              </a:rPr>
              <a:t>デモの _score: 8.24 はこれで計算されている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2つの軸でスコアを決める: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IDF（希少性）: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全社に出る「売上高」   → スコア低め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トヨタのみの「半導体」 → スコア高め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TF（出現頻度）: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多く出るほど高スコア</a:t>
            </a: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    ただし頭打ちあり＋長い文書はペナルティ</a:t>
            </a:r>
          </a:p>
          <a:p>
            <a:endParaRPr sz="1300">
              <a:solidFill>
                <a:srgbClr val="003D73"/>
              </a:solidFill>
              <a:latin typeface="Consolas"/>
            </a:endParaRPr>
          </a:p>
          <a:p>
            <a:r>
              <a:rPr sz="1300">
                <a:solidFill>
                  <a:srgbClr val="003D73"/>
                </a:solidFill>
                <a:latin typeface="Consolas"/>
              </a:rPr>
              <a:t>→「その文書でその単語がどれだけ重要か」を数値化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01183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3"/>
                </a:solidFill>
                <a:latin typeface="Meiryo"/>
              </a:rPr>
              <a:t>kuromoji で分割されたトークンが転置インデックスに登録され、BM25でスコアが計算される ― この2つが全文検索の根幹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BM25の限界 → セマンティック検索へ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eiryo"/>
              </a:rPr>
              <a:t>理論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D73"/>
                </a:solidFill>
                <a:latin typeface="Meiryo"/>
              </a:rPr>
              <a:t>BM25 ＝ 単語の「一致」を見ているだけ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0784"/>
            <a:ext cx="11274552" cy="228600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828800"/>
            <a:ext cx="11018520" cy="2029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3D73"/>
                </a:solidFill>
                <a:latin typeface="Consolas"/>
              </a:rPr>
              <a:t>検索ワード: "業績悪化"</a:t>
            </a:r>
          </a:p>
          <a:p>
            <a:endParaRPr sz="1400">
              <a:solidFill>
                <a:srgbClr val="003D73"/>
              </a:solidFill>
              <a:latin typeface="Consolas"/>
            </a:endParaRP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ヒット:   "業績が悪化した"        ← "業績" "悪化" が一致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ミス:     "収益が大幅に落ち込んだ"  ← 同じ意味だが単語が一致しない</a:t>
            </a: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ミス:     "減収減益となった"        ← 同じ意味だが単語が一致しない</a:t>
            </a:r>
          </a:p>
          <a:p>
            <a:endParaRPr sz="1400">
              <a:solidFill>
                <a:srgbClr val="003D73"/>
              </a:solidFill>
              <a:latin typeface="Consolas"/>
            </a:endParaRPr>
          </a:p>
          <a:p>
            <a:r>
              <a:rPr sz="1400">
                <a:solidFill>
                  <a:srgbClr val="003D73"/>
                </a:solidFill>
                <a:latin typeface="Consolas"/>
              </a:rPr>
              <a:t>→ 言い換え表現・同義語・文脈には対応できない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9664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3"/>
                </a:solidFill>
                <a:latin typeface="Meiryo"/>
              </a:rPr>
              <a:t>解決策: ベクトル検索（セマンティック検索）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72584"/>
            <a:ext cx="11274552" cy="1737360"/>
          </a:xfrm>
          <a:prstGeom prst="rect">
            <a:avLst/>
          </a:prstGeom>
          <a:solidFill>
            <a:srgbClr val="F4F7FB"/>
          </a:solidFill>
          <a:ln w="9525">
            <a:solidFill>
              <a:srgbClr val="C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4800600"/>
            <a:ext cx="11018520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003D73"/>
                </a:solidFill>
                <a:latin typeface="Consolas"/>
              </a:rPr>
              <a:t>"業績悪化"      → [0.12, -0.34, 0.87, ...]  （1024次元ベクトル）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"収益落ち込み"  → [0.11, -0.31, 0.85, ...]  ← 近い！（意味が近い）</a:t>
            </a: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"減収減益"      → [0.10, -0.30, 0.83, ...]  ← 近い！</a:t>
            </a:r>
          </a:p>
          <a:p>
            <a:endParaRPr sz="1350">
              <a:solidFill>
                <a:srgbClr val="003D73"/>
              </a:solidFill>
              <a:latin typeface="Consolas"/>
            </a:endParaRPr>
          </a:p>
          <a:p>
            <a:r>
              <a:rPr sz="1350">
                <a:solidFill>
                  <a:srgbClr val="003D73"/>
                </a:solidFill>
                <a:latin typeface="Consolas"/>
              </a:rPr>
              <a:t>AWS: Bedrock（Titan Embeddings v2）+ OpenSearch k-NN で実現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まとめと今後の拡張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510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Meiryo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3"/>
                </a:solidFill>
                <a:latin typeface="Meiryo"/>
              </a:rPr>
              <a:t>今日やったこと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iryo"/>
              </a:rPr>
              <a:t>1.  Amazon OpenSearch Service のドメイン構築
2.  EDINETから5社・1年分・136件をインデックスするバッチの実装
3.  kuromoji による日本語全文検索のデモ
    （Discover / 形態素解析可視化 / 全文検索 / 集計）
4.  転置インデックス ＋ BM25 で検索スコアの根幹を理解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914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3"/>
                </a:solidFill>
                <a:latin typeface="Meiryo"/>
              </a:rPr>
              <a:t>発展の方向性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173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iryo"/>
              </a:rPr>
              <a:t>XBRL対応
  → 財務数値の構造化検索が可能になる
ベクトル検索（セマンティック検索）
  Bedrock（Titan Embeddings）+ OpenSearch k-NN
  → 「意味」で検索できるようになる
定期バッチ化
  EventBridge Scheduler + ECS
  → 毎日自動で最新の有報を取得・投入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5669280" cy="27432"/>
          </a:xfrm>
          <a:prstGeom prst="rect">
            <a:avLst/>
          </a:prstGeom>
          <a:solidFill>
            <a:srgbClr val="C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Meiryo"/>
              </a:rPr>
              <a:t>ソースコード / 資料は社内リポジトリにあります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2966</Words>
  <Application>Microsoft Office PowerPoint</Application>
  <PresentationFormat>ユーザー設定</PresentationFormat>
  <Paragraphs>524</Paragraphs>
  <Slides>25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0" baseType="lpstr">
      <vt:lpstr>Meiryo</vt:lpstr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順哉 徳重</cp:lastModifiedBy>
  <cp:revision>2</cp:revision>
  <dcterms:created xsi:type="dcterms:W3CDTF">2013-01-27T09:14:16Z</dcterms:created>
  <dcterms:modified xsi:type="dcterms:W3CDTF">2026-06-24T23:24:14Z</dcterms:modified>
  <cp:category/>
</cp:coreProperties>
</file>